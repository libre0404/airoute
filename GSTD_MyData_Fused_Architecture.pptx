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  <Relationship Id="rId4" Type="http://schemas.openxmlformats.org/officeDocument/2006/relationships/custom-properties" Target="docProps/custom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34640" y="218084"/>
            <a:ext cx="6501384" cy="2167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国数通超级智能体平台 × MyData 融合架构 V2.0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918204" y="413126"/>
            <a:ext cx="3611880" cy="144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设计基调：轻耦合 · 重接口 · MyData跨层参与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1859432" y="579272"/>
            <a:ext cx="7946136" cy="202265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59432" y="579272"/>
            <a:ext cx="7946136" cy="202265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超级智能体入口  Super Agent Gateway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859432" y="781538"/>
            <a:ext cx="7946136" cy="953536"/>
          </a:xfrm>
          <a:prstGeom prst="rect">
            <a:avLst/>
          </a:prstGeom>
          <a:solidFill>
            <a:srgbClr val="DBEAFE"/>
          </a:solidFill>
          <a:ln w="19050">
            <a:solidFill>
              <a:srgbClr val="1D4E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953341" y="904342"/>
            <a:ext cx="794614" cy="346740"/>
          </a:xfrm>
          <a:prstGeom prst="roundRect">
            <a:avLst>
              <a:gd name="adj" fmla="val 15823"/>
            </a:avLst>
          </a:prstGeom>
          <a:solidFill>
            <a:srgbClr val="D1FAE5"/>
          </a:solidFill>
          <a:ln w="9525">
            <a:solidFill>
              <a:srgbClr val="0596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971629" y="913486"/>
            <a:ext cx="758038" cy="328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064E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WEB / 小程序</a:t>
            </a:r>
            <a:endParaRPr lang="en-US" sz="6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064E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APP / API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2805745" y="904342"/>
            <a:ext cx="794614" cy="346740"/>
          </a:xfrm>
          <a:prstGeom prst="roundRect">
            <a:avLst>
              <a:gd name="adj" fmla="val 15823"/>
            </a:avLst>
          </a:prstGeom>
          <a:solidFill>
            <a:srgbClr val="EDE9FE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24033" y="913486"/>
            <a:ext cx="758038" cy="328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4C1D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API Gateway</a:t>
            </a:r>
            <a:endParaRPr lang="en-US" sz="6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4C1D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统一网关</a:t>
            </a:r>
            <a:endParaRPr lang="en-US" sz="650" dirty="0"/>
          </a:p>
        </p:txBody>
      </p:sp>
      <p:sp>
        <p:nvSpPr>
          <p:cNvPr id="11" name="Shape 9"/>
          <p:cNvSpPr/>
          <p:nvPr/>
        </p:nvSpPr>
        <p:spPr>
          <a:xfrm>
            <a:off x="3658149" y="904342"/>
            <a:ext cx="794614" cy="346740"/>
          </a:xfrm>
          <a:prstGeom prst="roundRect">
            <a:avLst>
              <a:gd name="adj" fmla="val 15823"/>
            </a:avLst>
          </a:prstGeom>
          <a:solidFill>
            <a:srgbClr val="DBEAFE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76437" y="913486"/>
            <a:ext cx="758038" cy="328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T1 规则+KG</a:t>
            </a:r>
            <a:endParaRPr lang="en-US" sz="6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70% 零token</a:t>
            </a:r>
            <a:endParaRPr lang="en-US" sz="650" dirty="0"/>
          </a:p>
        </p:txBody>
      </p:sp>
      <p:sp>
        <p:nvSpPr>
          <p:cNvPr id="13" name="Shape 11"/>
          <p:cNvSpPr/>
          <p:nvPr/>
        </p:nvSpPr>
        <p:spPr>
          <a:xfrm>
            <a:off x="4510552" y="904342"/>
            <a:ext cx="794614" cy="346740"/>
          </a:xfrm>
          <a:prstGeom prst="roundRect">
            <a:avLst>
              <a:gd name="adj" fmla="val 15823"/>
            </a:avLst>
          </a:prstGeom>
          <a:solidFill>
            <a:srgbClr val="DBEAFE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28840" y="913486"/>
            <a:ext cx="758038" cy="328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T2 单Agent</a:t>
            </a:r>
            <a:endParaRPr lang="en-US" sz="6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20% 低token</a:t>
            </a:r>
            <a:endParaRPr lang="en-US" sz="650" dirty="0"/>
          </a:p>
        </p:txBody>
      </p:sp>
      <p:sp>
        <p:nvSpPr>
          <p:cNvPr id="15" name="Shape 13"/>
          <p:cNvSpPr/>
          <p:nvPr/>
        </p:nvSpPr>
        <p:spPr>
          <a:xfrm>
            <a:off x="5362956" y="904342"/>
            <a:ext cx="794614" cy="346740"/>
          </a:xfrm>
          <a:prstGeom prst="roundRect">
            <a:avLst>
              <a:gd name="adj" fmla="val 15823"/>
            </a:avLst>
          </a:prstGeom>
          <a:solidFill>
            <a:srgbClr val="DBEAFE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81244" y="913486"/>
            <a:ext cx="758038" cy="328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T3 Harness</a:t>
            </a:r>
            <a:endParaRPr lang="en-US" sz="6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9% 中token</a:t>
            </a:r>
            <a:endParaRPr lang="en-US" sz="650" dirty="0"/>
          </a:p>
        </p:txBody>
      </p:sp>
      <p:sp>
        <p:nvSpPr>
          <p:cNvPr id="17" name="Shape 15"/>
          <p:cNvSpPr/>
          <p:nvPr/>
        </p:nvSpPr>
        <p:spPr>
          <a:xfrm>
            <a:off x="6215360" y="904342"/>
            <a:ext cx="794614" cy="346740"/>
          </a:xfrm>
          <a:prstGeom prst="roundRect">
            <a:avLst>
              <a:gd name="adj" fmla="val 15823"/>
            </a:avLst>
          </a:prstGeom>
          <a:solidFill>
            <a:srgbClr val="DBEAFE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33648" y="913486"/>
            <a:ext cx="758038" cy="328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T4 LLM兜底</a:t>
            </a:r>
            <a:endParaRPr lang="en-US" sz="6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1% 高token</a:t>
            </a:r>
            <a:endParaRPr lang="en-US" sz="650" dirty="0"/>
          </a:p>
        </p:txBody>
      </p:sp>
      <p:sp>
        <p:nvSpPr>
          <p:cNvPr id="19" name="Shape 17"/>
          <p:cNvSpPr/>
          <p:nvPr/>
        </p:nvSpPr>
        <p:spPr>
          <a:xfrm>
            <a:off x="7096658" y="904342"/>
            <a:ext cx="794614" cy="346740"/>
          </a:xfrm>
          <a:prstGeom prst="roundRect">
            <a:avLst>
              <a:gd name="adj" fmla="val 15823"/>
            </a:avLst>
          </a:prstGeom>
          <a:solidFill>
            <a:srgbClr val="DBEAFE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14946" y="913486"/>
            <a:ext cx="758038" cy="328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SSE Streaming</a:t>
            </a:r>
            <a:endParaRPr lang="en-US" sz="6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流式响应</a:t>
            </a:r>
            <a:endParaRPr lang="en-US" sz="650" dirty="0"/>
          </a:p>
        </p:txBody>
      </p:sp>
      <p:sp>
        <p:nvSpPr>
          <p:cNvPr id="21" name="Shape 19"/>
          <p:cNvSpPr/>
          <p:nvPr/>
        </p:nvSpPr>
        <p:spPr>
          <a:xfrm>
            <a:off x="1953341" y="1323320"/>
            <a:ext cx="866851" cy="317845"/>
          </a:xfrm>
          <a:prstGeom prst="roundRect">
            <a:avLst>
              <a:gd name="adj" fmla="val 17261"/>
            </a:avLst>
          </a:prstGeom>
          <a:solidFill>
            <a:srgbClr val="DBEAFE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971629" y="1332464"/>
            <a:ext cx="830275" cy="2995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上下文感知</a:t>
            </a:r>
            <a:endParaRPr lang="en-US" sz="6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否定拦截·澄清</a:t>
            </a:r>
            <a:endParaRPr lang="en-US" sz="650" dirty="0"/>
          </a:p>
        </p:txBody>
      </p:sp>
      <p:sp>
        <p:nvSpPr>
          <p:cNvPr id="23" name="Shape 21"/>
          <p:cNvSpPr/>
          <p:nvPr/>
        </p:nvSpPr>
        <p:spPr>
          <a:xfrm>
            <a:off x="2892430" y="1323320"/>
            <a:ext cx="722376" cy="317845"/>
          </a:xfrm>
          <a:prstGeom prst="roundRect">
            <a:avLst>
              <a:gd name="adj" fmla="val 17261"/>
            </a:avLst>
          </a:prstGeom>
          <a:solidFill>
            <a:srgbClr val="FEE2E2"/>
          </a:solidFill>
          <a:ln w="9525">
            <a:solidFill>
              <a:srgbClr val="DC262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910718" y="1332464"/>
            <a:ext cx="685800" cy="2995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99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Guardrail</a:t>
            </a:r>
            <a:endParaRPr lang="en-US" sz="6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99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Fail-Closed</a:t>
            </a:r>
            <a:endParaRPr lang="en-US" sz="650" dirty="0"/>
          </a:p>
        </p:txBody>
      </p:sp>
      <p:sp>
        <p:nvSpPr>
          <p:cNvPr id="25" name="Shape 23"/>
          <p:cNvSpPr/>
          <p:nvPr/>
        </p:nvSpPr>
        <p:spPr>
          <a:xfrm>
            <a:off x="3687044" y="1323320"/>
            <a:ext cx="722376" cy="317845"/>
          </a:xfrm>
          <a:prstGeom prst="roundRect">
            <a:avLst>
              <a:gd name="adj" fmla="val 17261"/>
            </a:avLst>
          </a:prstGeom>
          <a:solidFill>
            <a:srgbClr val="FEE2E2"/>
          </a:solidFill>
          <a:ln w="9525">
            <a:solidFill>
              <a:srgbClr val="DC262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705332" y="1332464"/>
            <a:ext cx="685800" cy="2995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99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JWT / RBAC</a:t>
            </a:r>
            <a:endParaRPr lang="en-US" sz="6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99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OAuth 2.0</a:t>
            </a:r>
            <a:endParaRPr lang="en-US" sz="650" dirty="0"/>
          </a:p>
        </p:txBody>
      </p:sp>
      <p:sp>
        <p:nvSpPr>
          <p:cNvPr id="27" name="Shape 25"/>
          <p:cNvSpPr/>
          <p:nvPr/>
        </p:nvSpPr>
        <p:spPr>
          <a:xfrm>
            <a:off x="4481657" y="1323320"/>
            <a:ext cx="794614" cy="317845"/>
          </a:xfrm>
          <a:prstGeom prst="roundRect">
            <a:avLst>
              <a:gd name="adj" fmla="val 17261"/>
            </a:avLst>
          </a:prstGeom>
          <a:solidFill>
            <a:srgbClr val="FEE2E2"/>
          </a:solidFill>
          <a:ln w="9525">
            <a:solidFill>
              <a:srgbClr val="DC262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499945" y="1332464"/>
            <a:ext cx="758038" cy="2995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00" dirty="0">
                <a:solidFill>
                  <a:srgbClr val="99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RateLimiter</a:t>
            </a:r>
            <a:endParaRPr lang="en-US" sz="6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600" dirty="0">
                <a:solidFill>
                  <a:srgbClr val="99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IP:100 Chat:20</a:t>
            </a:r>
            <a:endParaRPr lang="en-US" sz="600" dirty="0"/>
          </a:p>
        </p:txBody>
      </p:sp>
      <p:sp>
        <p:nvSpPr>
          <p:cNvPr id="29" name="Shape 27"/>
          <p:cNvSpPr/>
          <p:nvPr/>
        </p:nvSpPr>
        <p:spPr>
          <a:xfrm>
            <a:off x="5348508" y="1323320"/>
            <a:ext cx="794614" cy="317845"/>
          </a:xfrm>
          <a:prstGeom prst="roundRect">
            <a:avLst>
              <a:gd name="adj" fmla="val 17261"/>
            </a:avLst>
          </a:prstGeom>
          <a:solidFill>
            <a:srgbClr val="FEE2E2"/>
          </a:solidFill>
          <a:ln w="9525">
            <a:solidFill>
              <a:srgbClr val="DC26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366796" y="1332464"/>
            <a:ext cx="758038" cy="2995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99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CircuitBreaker</a:t>
            </a:r>
            <a:endParaRPr lang="en-US" sz="6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99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3× 熔断器</a:t>
            </a:r>
            <a:endParaRPr lang="en-US" sz="650" dirty="0"/>
          </a:p>
        </p:txBody>
      </p:sp>
      <p:sp>
        <p:nvSpPr>
          <p:cNvPr id="31" name="Text 29"/>
          <p:cNvSpPr/>
          <p:nvPr/>
        </p:nvSpPr>
        <p:spPr>
          <a:xfrm>
            <a:off x="6229807" y="1323320"/>
            <a:ext cx="1155802" cy="3178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i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路由原则</a:t>
            </a:r>
            <a:endParaRPr lang="en-US" sz="600" dirty="0"/>
          </a:p>
          <a:p>
            <a:pPr algn="l" indent="0" marL="0">
              <a:buNone/>
            </a:pPr>
            <a:r>
              <a:rPr lang="en-US" sz="600" i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规则→Agent→Harness→LLM</a:t>
            </a:r>
            <a:endParaRPr lang="en-US" sz="600" dirty="0"/>
          </a:p>
        </p:txBody>
      </p:sp>
      <p:sp>
        <p:nvSpPr>
          <p:cNvPr id="32" name="Shape 30"/>
          <p:cNvSpPr/>
          <p:nvPr/>
        </p:nvSpPr>
        <p:spPr>
          <a:xfrm>
            <a:off x="1859432" y="1763969"/>
            <a:ext cx="7946136" cy="231160"/>
          </a:xfrm>
          <a:prstGeom prst="rect">
            <a:avLst/>
          </a:prstGeom>
          <a:solidFill>
            <a:srgbClr val="FEF3C7"/>
          </a:solidFill>
          <a:ln w="19050">
            <a:solidFill>
              <a:srgbClr val="B4530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859432" y="1763969"/>
            <a:ext cx="7946136" cy="231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835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⇅  EntryAPI  |  统一入口接口  |  认证令牌 · 路由结果 · 会话上下文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1859432" y="1951787"/>
            <a:ext cx="7946136" cy="202265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859432" y="1951787"/>
            <a:ext cx="7946136" cy="202265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业务应用层  Business Application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1859432" y="2154052"/>
            <a:ext cx="7946136" cy="1061893"/>
          </a:xfrm>
          <a:prstGeom prst="rect">
            <a:avLst/>
          </a:prstGeom>
          <a:solidFill>
            <a:srgbClr val="E0F2FE"/>
          </a:solidFill>
          <a:ln w="19050">
            <a:solidFill>
              <a:srgbClr val="0284C7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953341" y="2255185"/>
            <a:ext cx="1011326" cy="346740"/>
          </a:xfrm>
          <a:prstGeom prst="roundRect">
            <a:avLst>
              <a:gd name="adj" fmla="val 15823"/>
            </a:avLst>
          </a:prstGeom>
          <a:solidFill>
            <a:srgbClr val="DBEAFE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971629" y="2264329"/>
            <a:ext cx="974750" cy="328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政务办事域</a:t>
            </a:r>
            <a:endParaRPr lang="en-US" sz="6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补贴申领·政策查询</a:t>
            </a:r>
            <a:endParaRPr lang="en-US" sz="650" dirty="0"/>
          </a:p>
        </p:txBody>
      </p:sp>
      <p:sp>
        <p:nvSpPr>
          <p:cNvPr id="39" name="Shape 37"/>
          <p:cNvSpPr/>
          <p:nvPr/>
        </p:nvSpPr>
        <p:spPr>
          <a:xfrm>
            <a:off x="3022458" y="2255185"/>
            <a:ext cx="1011326" cy="346740"/>
          </a:xfrm>
          <a:prstGeom prst="roundRect">
            <a:avLst>
              <a:gd name="adj" fmla="val 15823"/>
            </a:avLst>
          </a:prstGeom>
          <a:solidFill>
            <a:srgbClr val="DBEAFE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040746" y="2264329"/>
            <a:ext cx="974750" cy="328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民生服务域</a:t>
            </a:r>
            <a:endParaRPr lang="en-US" sz="6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医疗预约·住房查询</a:t>
            </a:r>
            <a:endParaRPr lang="en-US" sz="650" dirty="0"/>
          </a:p>
        </p:txBody>
      </p:sp>
      <p:sp>
        <p:nvSpPr>
          <p:cNvPr id="41" name="Shape 39"/>
          <p:cNvSpPr/>
          <p:nvPr/>
        </p:nvSpPr>
        <p:spPr>
          <a:xfrm>
            <a:off x="4091574" y="2255185"/>
            <a:ext cx="1011326" cy="346740"/>
          </a:xfrm>
          <a:prstGeom prst="roundRect">
            <a:avLst>
              <a:gd name="adj" fmla="val 15823"/>
            </a:avLst>
          </a:prstGeom>
          <a:solidFill>
            <a:srgbClr val="DBEAFE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109862" y="2264329"/>
            <a:ext cx="974750" cy="328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就业服务域</a:t>
            </a:r>
            <a:endParaRPr lang="en-US" sz="6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就业查询·证照办理</a:t>
            </a:r>
            <a:endParaRPr lang="en-US" sz="650" dirty="0"/>
          </a:p>
        </p:txBody>
      </p:sp>
      <p:sp>
        <p:nvSpPr>
          <p:cNvPr id="43" name="Shape 41"/>
          <p:cNvSpPr/>
          <p:nvPr/>
        </p:nvSpPr>
        <p:spPr>
          <a:xfrm>
            <a:off x="5160691" y="2255185"/>
            <a:ext cx="1011326" cy="346740"/>
          </a:xfrm>
          <a:prstGeom prst="roundRect">
            <a:avLst>
              <a:gd name="adj" fmla="val 15823"/>
            </a:avLst>
          </a:prstGeom>
          <a:solidFill>
            <a:srgbClr val="EDE9FE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178979" y="2264329"/>
            <a:ext cx="974750" cy="328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4C1D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智能体编排</a:t>
            </a:r>
            <a:endParaRPr lang="en-US" sz="6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4C1D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Harness·FSM 12态</a:t>
            </a:r>
            <a:endParaRPr lang="en-US" sz="650" dirty="0"/>
          </a:p>
        </p:txBody>
      </p:sp>
      <p:sp>
        <p:nvSpPr>
          <p:cNvPr id="45" name="Shape 43"/>
          <p:cNvSpPr/>
          <p:nvPr/>
        </p:nvSpPr>
        <p:spPr>
          <a:xfrm>
            <a:off x="6229807" y="2255185"/>
            <a:ext cx="866851" cy="346740"/>
          </a:xfrm>
          <a:prstGeom prst="roundRect">
            <a:avLst>
              <a:gd name="adj" fmla="val 15823"/>
            </a:avLst>
          </a:prstGeom>
          <a:solidFill>
            <a:srgbClr val="EDE9FE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248095" y="2264329"/>
            <a:ext cx="830275" cy="328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4C1D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ProcessFlow</a:t>
            </a:r>
            <a:endParaRPr lang="en-US" sz="6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4C1D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业务流程引擎</a:t>
            </a:r>
            <a:endParaRPr lang="en-US" sz="650" dirty="0"/>
          </a:p>
        </p:txBody>
      </p:sp>
      <p:sp>
        <p:nvSpPr>
          <p:cNvPr id="47" name="Shape 45"/>
          <p:cNvSpPr/>
          <p:nvPr/>
        </p:nvSpPr>
        <p:spPr>
          <a:xfrm>
            <a:off x="1953341" y="2674163"/>
            <a:ext cx="866851" cy="361188"/>
          </a:xfrm>
          <a:prstGeom prst="roundRect">
            <a:avLst>
              <a:gd name="adj" fmla="val 15190"/>
            </a:avLst>
          </a:prstGeom>
          <a:solidFill>
            <a:srgbClr val="F0FDF4"/>
          </a:solidFill>
          <a:ln w="9525">
            <a:solidFill>
              <a:srgbClr val="16A34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971629" y="2683307"/>
            <a:ext cx="8302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1453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团队自定义场景</a:t>
            </a:r>
            <a:endParaRPr lang="en-US" sz="6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1453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低代码编排</a:t>
            </a:r>
            <a:endParaRPr lang="en-US" sz="650" dirty="0"/>
          </a:p>
        </p:txBody>
      </p:sp>
      <p:sp>
        <p:nvSpPr>
          <p:cNvPr id="49" name="Shape 47"/>
          <p:cNvSpPr/>
          <p:nvPr/>
        </p:nvSpPr>
        <p:spPr>
          <a:xfrm>
            <a:off x="2877983" y="2674163"/>
            <a:ext cx="866851" cy="361188"/>
          </a:xfrm>
          <a:prstGeom prst="roundRect">
            <a:avLst>
              <a:gd name="adj" fmla="val 15190"/>
            </a:avLst>
          </a:prstGeom>
          <a:solidFill>
            <a:srgbClr val="F0FDF4"/>
          </a:solidFill>
          <a:ln w="9525">
            <a:solidFill>
              <a:srgbClr val="16A34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896271" y="2683307"/>
            <a:ext cx="8302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1453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第三方 ISV</a:t>
            </a:r>
            <a:endParaRPr lang="en-US" sz="6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1453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标准接口接入</a:t>
            </a:r>
            <a:endParaRPr lang="en-US" sz="650" dirty="0"/>
          </a:p>
        </p:txBody>
      </p:sp>
      <p:sp>
        <p:nvSpPr>
          <p:cNvPr id="51" name="Shape 49"/>
          <p:cNvSpPr/>
          <p:nvPr/>
        </p:nvSpPr>
        <p:spPr>
          <a:xfrm>
            <a:off x="3802624" y="2674163"/>
            <a:ext cx="722376" cy="361188"/>
          </a:xfrm>
          <a:prstGeom prst="roundRect">
            <a:avLst>
              <a:gd name="adj" fmla="val 15190"/>
            </a:avLst>
          </a:prstGeom>
          <a:solidFill>
            <a:srgbClr val="F0FDF4"/>
          </a:solidFill>
          <a:ln w="9525">
            <a:solidFill>
              <a:srgbClr val="16A34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820912" y="2683307"/>
            <a:ext cx="6858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1453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数据厂商</a:t>
            </a:r>
            <a:endParaRPr lang="en-US" sz="6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1453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数据接入</a:t>
            </a:r>
            <a:endParaRPr lang="en-US" sz="650" dirty="0"/>
          </a:p>
        </p:txBody>
      </p:sp>
      <p:sp>
        <p:nvSpPr>
          <p:cNvPr id="53" name="Shape 51"/>
          <p:cNvSpPr/>
          <p:nvPr/>
        </p:nvSpPr>
        <p:spPr>
          <a:xfrm>
            <a:off x="4597237" y="2674163"/>
            <a:ext cx="939089" cy="361188"/>
          </a:xfrm>
          <a:prstGeom prst="roundRect">
            <a:avLst>
              <a:gd name="adj" fmla="val 15190"/>
            </a:avLst>
          </a:prstGeom>
          <a:solidFill>
            <a:srgbClr val="D1FAE5"/>
          </a:solidFill>
          <a:ln w="9525">
            <a:solidFill>
              <a:srgbClr val="059669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615525" y="2683307"/>
            <a:ext cx="90251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064E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MyData C端用户操作</a:t>
            </a:r>
            <a:endParaRPr lang="en-US" sz="5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064E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查询/申领/授权/核验</a:t>
            </a:r>
            <a:endParaRPr lang="en-US" sz="550" dirty="0"/>
          </a:p>
        </p:txBody>
      </p:sp>
      <p:sp>
        <p:nvSpPr>
          <p:cNvPr id="55" name="Shape 53"/>
          <p:cNvSpPr/>
          <p:nvPr/>
        </p:nvSpPr>
        <p:spPr>
          <a:xfrm>
            <a:off x="5608564" y="2674163"/>
            <a:ext cx="866851" cy="361188"/>
          </a:xfrm>
          <a:prstGeom prst="roundRect">
            <a:avLst>
              <a:gd name="adj" fmla="val 15190"/>
            </a:avLst>
          </a:prstGeom>
          <a:solidFill>
            <a:srgbClr val="D1FAE5"/>
          </a:solidFill>
          <a:ln w="9525">
            <a:solidFill>
              <a:srgbClr val="059669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626852" y="2683307"/>
            <a:ext cx="8302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00" dirty="0">
                <a:solidFill>
                  <a:srgbClr val="064E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MyData 场景应用</a:t>
            </a:r>
            <a:endParaRPr lang="en-US" sz="6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600" dirty="0">
                <a:solidFill>
                  <a:srgbClr val="064E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政务域/民生域</a:t>
            </a:r>
            <a:endParaRPr lang="en-US" sz="600" dirty="0"/>
          </a:p>
        </p:txBody>
      </p:sp>
      <p:sp>
        <p:nvSpPr>
          <p:cNvPr id="57" name="Shape 55"/>
          <p:cNvSpPr/>
          <p:nvPr/>
        </p:nvSpPr>
        <p:spPr>
          <a:xfrm>
            <a:off x="6547653" y="2674163"/>
            <a:ext cx="722376" cy="361188"/>
          </a:xfrm>
          <a:prstGeom prst="roundRect">
            <a:avLst>
              <a:gd name="adj" fmla="val 15190"/>
            </a:avLst>
          </a:prstGeom>
          <a:solidFill>
            <a:srgbClr val="EDE9FE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565941" y="2683307"/>
            <a:ext cx="6858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4C1D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多Agents</a:t>
            </a:r>
            <a:endParaRPr lang="en-US" sz="6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4C1D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ACP协作</a:t>
            </a:r>
            <a:endParaRPr lang="en-US" sz="650" dirty="0"/>
          </a:p>
        </p:txBody>
      </p:sp>
      <p:sp>
        <p:nvSpPr>
          <p:cNvPr id="59" name="Shape 57"/>
          <p:cNvSpPr/>
          <p:nvPr/>
        </p:nvSpPr>
        <p:spPr>
          <a:xfrm>
            <a:off x="7342266" y="2674163"/>
            <a:ext cx="866851" cy="361188"/>
          </a:xfrm>
          <a:prstGeom prst="roundRect">
            <a:avLst>
              <a:gd name="adj" fmla="val 15190"/>
            </a:avLst>
          </a:prstGeom>
          <a:solidFill>
            <a:srgbClr val="FEF3C7"/>
          </a:solidFill>
          <a:ln w="9525">
            <a:solidFill>
              <a:srgbClr val="B45309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360554" y="2683307"/>
            <a:ext cx="8302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7835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DEP授权</a:t>
            </a:r>
            <a:endParaRPr lang="en-US" sz="6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7835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Consent Receipt</a:t>
            </a:r>
            <a:endParaRPr lang="en-US" sz="650" dirty="0"/>
          </a:p>
        </p:txBody>
      </p:sp>
      <p:sp>
        <p:nvSpPr>
          <p:cNvPr id="61" name="Shape 59"/>
          <p:cNvSpPr/>
          <p:nvPr/>
        </p:nvSpPr>
        <p:spPr>
          <a:xfrm>
            <a:off x="8281355" y="2674163"/>
            <a:ext cx="722376" cy="361188"/>
          </a:xfrm>
          <a:prstGeom prst="roundRect">
            <a:avLst>
              <a:gd name="adj" fmla="val 15190"/>
            </a:avLst>
          </a:prstGeom>
          <a:solidFill>
            <a:srgbClr val="F0FDF4"/>
          </a:solidFill>
          <a:ln w="9525">
            <a:solidFill>
              <a:srgbClr val="16A34A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8299643" y="2683307"/>
            <a:ext cx="6858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1453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ISV专区</a:t>
            </a:r>
            <a:endParaRPr lang="en-US" sz="6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1453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开放平台</a:t>
            </a:r>
            <a:endParaRPr lang="en-US" sz="650" dirty="0"/>
          </a:p>
        </p:txBody>
      </p:sp>
      <p:sp>
        <p:nvSpPr>
          <p:cNvPr id="63" name="Shape 61"/>
          <p:cNvSpPr/>
          <p:nvPr/>
        </p:nvSpPr>
        <p:spPr>
          <a:xfrm>
            <a:off x="1859432" y="3244840"/>
            <a:ext cx="7946136" cy="231160"/>
          </a:xfrm>
          <a:prstGeom prst="rect">
            <a:avLst/>
          </a:prstGeom>
          <a:solidFill>
            <a:srgbClr val="FEF3C7"/>
          </a:solidFill>
          <a:ln w="19050">
            <a:solidFill>
              <a:srgbClr val="B45309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1859432" y="3244840"/>
            <a:ext cx="7946136" cy="231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835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⇅  AppAPI + DEP授权协议  |  业务请求 · Agent调度 · 数据授权 · Consent Receipt  |  第三方ISV标准接入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1859432" y="3432658"/>
            <a:ext cx="7946136" cy="202265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1859432" y="3432658"/>
            <a:ext cx="7946136" cy="202265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国数通能力中台  Capability Middle Platform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1859432" y="3634923"/>
            <a:ext cx="7946136" cy="1061893"/>
          </a:xfrm>
          <a:prstGeom prst="rect">
            <a:avLst/>
          </a:prstGeom>
          <a:solidFill>
            <a:srgbClr val="EDE9FE"/>
          </a:solidFill>
          <a:ln w="19050">
            <a:solidFill>
              <a:srgbClr val="6D28D9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953341" y="3736056"/>
            <a:ext cx="1047445" cy="397307"/>
          </a:xfrm>
          <a:prstGeom prst="roundRect">
            <a:avLst>
              <a:gd name="adj" fmla="val 13809"/>
            </a:avLst>
          </a:prstGeom>
          <a:solidFill>
            <a:srgbClr val="EDE9FE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1971629" y="3745200"/>
            <a:ext cx="1010869" cy="3790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50" b="1" dirty="0">
                <a:solidFill>
                  <a:srgbClr val="4C1D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能力注册调度</a:t>
            </a:r>
            <a:endParaRPr lang="en-US" sz="5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550" b="1" dirty="0">
                <a:solidFill>
                  <a:srgbClr val="4C1D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CPI·12 Capabilities</a:t>
            </a:r>
            <a:endParaRPr lang="en-US" sz="5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550" b="1" dirty="0">
                <a:solidFill>
                  <a:srgbClr val="4C1D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Providers</a:t>
            </a:r>
            <a:endParaRPr lang="en-US" sz="550" dirty="0"/>
          </a:p>
        </p:txBody>
      </p:sp>
      <p:sp>
        <p:nvSpPr>
          <p:cNvPr id="70" name="Shape 68"/>
          <p:cNvSpPr/>
          <p:nvPr/>
        </p:nvSpPr>
        <p:spPr>
          <a:xfrm>
            <a:off x="3073024" y="3736056"/>
            <a:ext cx="1047445" cy="397307"/>
          </a:xfrm>
          <a:prstGeom prst="roundRect">
            <a:avLst>
              <a:gd name="adj" fmla="val 13809"/>
            </a:avLst>
          </a:prstGeom>
          <a:solidFill>
            <a:srgbClr val="EDE9FE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091312" y="3745200"/>
            <a:ext cx="1010869" cy="3790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50" b="1" dirty="0">
                <a:solidFill>
                  <a:srgbClr val="4C1D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Agent通信总线</a:t>
            </a:r>
            <a:endParaRPr lang="en-US" sz="5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550" b="1" dirty="0">
                <a:solidFill>
                  <a:srgbClr val="4C1D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ACP·7 Agents</a:t>
            </a:r>
            <a:endParaRPr lang="en-US" sz="5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550" b="1" dirty="0">
                <a:solidFill>
                  <a:srgbClr val="4C1D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Handoff·Context</a:t>
            </a:r>
            <a:endParaRPr lang="en-US" sz="550" dirty="0"/>
          </a:p>
        </p:txBody>
      </p:sp>
      <p:sp>
        <p:nvSpPr>
          <p:cNvPr id="72" name="Shape 70"/>
          <p:cNvSpPr/>
          <p:nvPr/>
        </p:nvSpPr>
        <p:spPr>
          <a:xfrm>
            <a:off x="4192707" y="3736056"/>
            <a:ext cx="1047445" cy="397307"/>
          </a:xfrm>
          <a:prstGeom prst="roundRect">
            <a:avLst>
              <a:gd name="adj" fmla="val 13809"/>
            </a:avLst>
          </a:prstGeom>
          <a:solidFill>
            <a:srgbClr val="EDE9FE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210995" y="3745200"/>
            <a:ext cx="1010869" cy="3790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50" b="1" dirty="0">
                <a:solidFill>
                  <a:srgbClr val="4C1D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数据交换协议</a:t>
            </a:r>
            <a:endParaRPr lang="en-US" sz="5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550" b="1" dirty="0">
                <a:solidFill>
                  <a:srgbClr val="4C1D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DEP·11 Schemas</a:t>
            </a:r>
            <a:endParaRPr lang="en-US" sz="5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550" b="1" dirty="0">
                <a:solidFill>
                  <a:srgbClr val="4C1D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五步授权流程</a:t>
            </a:r>
            <a:endParaRPr lang="en-US" sz="550" dirty="0"/>
          </a:p>
        </p:txBody>
      </p:sp>
      <p:sp>
        <p:nvSpPr>
          <p:cNvPr id="74" name="Shape 72"/>
          <p:cNvSpPr/>
          <p:nvPr/>
        </p:nvSpPr>
        <p:spPr>
          <a:xfrm>
            <a:off x="5312390" y="3736056"/>
            <a:ext cx="1083564" cy="397307"/>
          </a:xfrm>
          <a:prstGeom prst="roundRect">
            <a:avLst>
              <a:gd name="adj" fmla="val 13809"/>
            </a:avLst>
          </a:prstGeom>
          <a:solidFill>
            <a:srgbClr val="EDE9FE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5330678" y="3745200"/>
            <a:ext cx="1046988" cy="3790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50" b="1" dirty="0">
                <a:solidFill>
                  <a:srgbClr val="4C1D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统一API网关</a:t>
            </a:r>
            <a:endParaRPr lang="en-US" sz="5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550" b="1" dirty="0">
                <a:solidFill>
                  <a:srgbClr val="4C1D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能力复用≥60%</a:t>
            </a:r>
            <a:endParaRPr lang="en-US" sz="5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550" b="1" dirty="0">
                <a:solidFill>
                  <a:srgbClr val="4C1D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为业务应用提供能力</a:t>
            </a:r>
            <a:endParaRPr lang="en-US" sz="550" dirty="0"/>
          </a:p>
        </p:txBody>
      </p:sp>
      <p:sp>
        <p:nvSpPr>
          <p:cNvPr id="76" name="Shape 74"/>
          <p:cNvSpPr/>
          <p:nvPr/>
        </p:nvSpPr>
        <p:spPr>
          <a:xfrm>
            <a:off x="1953341" y="4205600"/>
            <a:ext cx="939089" cy="361188"/>
          </a:xfrm>
          <a:prstGeom prst="roundRect">
            <a:avLst>
              <a:gd name="adj" fmla="val 15190"/>
            </a:avLst>
          </a:prstGeom>
          <a:solidFill>
            <a:srgbClr val="FEF3C7"/>
          </a:solidFill>
          <a:ln w="9525">
            <a:solidFill>
              <a:srgbClr val="B45309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1971629" y="4214744"/>
            <a:ext cx="90251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00" b="1" dirty="0">
                <a:solidFill>
                  <a:srgbClr val="7835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数据管道 ⇅</a:t>
            </a:r>
            <a:endParaRPr lang="en-US" sz="6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600" b="1" dirty="0">
                <a:solidFill>
                  <a:srgbClr val="7835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L4数据交互</a:t>
            </a:r>
            <a:endParaRPr lang="en-US" sz="6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600" b="1" dirty="0">
                <a:solidFill>
                  <a:srgbClr val="7835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赋能场景业务</a:t>
            </a:r>
            <a:endParaRPr lang="en-US" sz="600" dirty="0"/>
          </a:p>
        </p:txBody>
      </p:sp>
      <p:sp>
        <p:nvSpPr>
          <p:cNvPr id="78" name="Shape 76"/>
          <p:cNvSpPr/>
          <p:nvPr/>
        </p:nvSpPr>
        <p:spPr>
          <a:xfrm>
            <a:off x="2964668" y="4205600"/>
            <a:ext cx="866851" cy="361188"/>
          </a:xfrm>
          <a:prstGeom prst="roundRect">
            <a:avLst>
              <a:gd name="adj" fmla="val 15190"/>
            </a:avLst>
          </a:prstGeom>
          <a:solidFill>
            <a:srgbClr val="D1FAE5"/>
          </a:solidFill>
          <a:ln w="9525">
            <a:solidFill>
              <a:srgbClr val="059669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2982956" y="4214744"/>
            <a:ext cx="8302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00" dirty="0">
                <a:solidFill>
                  <a:srgbClr val="064E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MyData 数据网关</a:t>
            </a:r>
            <a:endParaRPr lang="en-US" sz="6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600" dirty="0">
                <a:solidFill>
                  <a:srgbClr val="064E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认证/路由/熔断</a:t>
            </a:r>
            <a:endParaRPr lang="en-US" sz="600" dirty="0"/>
          </a:p>
        </p:txBody>
      </p:sp>
      <p:sp>
        <p:nvSpPr>
          <p:cNvPr id="80" name="Shape 78"/>
          <p:cNvSpPr/>
          <p:nvPr/>
        </p:nvSpPr>
        <p:spPr>
          <a:xfrm>
            <a:off x="3903756" y="4205600"/>
            <a:ext cx="939089" cy="361188"/>
          </a:xfrm>
          <a:prstGeom prst="roundRect">
            <a:avLst>
              <a:gd name="adj" fmla="val 15190"/>
            </a:avLst>
          </a:prstGeom>
          <a:solidFill>
            <a:srgbClr val="D1FAE5"/>
          </a:solidFill>
          <a:ln w="9525">
            <a:solidFill>
              <a:srgbClr val="059669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3922044" y="4214744"/>
            <a:ext cx="90251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064E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MyData 授权管理</a:t>
            </a:r>
            <a:endParaRPr lang="en-US" sz="5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064E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/控制中心</a:t>
            </a:r>
            <a:endParaRPr lang="en-US" sz="5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064E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计费/安全/运营</a:t>
            </a:r>
            <a:endParaRPr lang="en-US" sz="550" dirty="0"/>
          </a:p>
        </p:txBody>
      </p:sp>
      <p:sp>
        <p:nvSpPr>
          <p:cNvPr id="82" name="Shape 80"/>
          <p:cNvSpPr/>
          <p:nvPr/>
        </p:nvSpPr>
        <p:spPr>
          <a:xfrm>
            <a:off x="4915083" y="4205600"/>
            <a:ext cx="939089" cy="361188"/>
          </a:xfrm>
          <a:prstGeom prst="roundRect">
            <a:avLst>
              <a:gd name="adj" fmla="val 15190"/>
            </a:avLst>
          </a:prstGeom>
          <a:solidFill>
            <a:srgbClr val="D1FAE5"/>
          </a:solidFill>
          <a:ln w="9525">
            <a:solidFill>
              <a:srgbClr val="059669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4933371" y="4214744"/>
            <a:ext cx="90251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064E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MyData 应用管理</a:t>
            </a:r>
            <a:endParaRPr lang="en-US" sz="5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064E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(使用方)</a:t>
            </a:r>
            <a:endParaRPr lang="en-US" sz="5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064E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企业入驻/场景管理</a:t>
            </a:r>
            <a:endParaRPr lang="en-US" sz="550" dirty="0"/>
          </a:p>
        </p:txBody>
      </p:sp>
      <p:sp>
        <p:nvSpPr>
          <p:cNvPr id="84" name="Shape 82"/>
          <p:cNvSpPr/>
          <p:nvPr/>
        </p:nvSpPr>
        <p:spPr>
          <a:xfrm>
            <a:off x="5926409" y="4205600"/>
            <a:ext cx="866851" cy="361188"/>
          </a:xfrm>
          <a:prstGeom prst="roundRect">
            <a:avLst>
              <a:gd name="adj" fmla="val 15190"/>
            </a:avLst>
          </a:prstGeom>
          <a:solidFill>
            <a:srgbClr val="EDE9FE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5944697" y="4214744"/>
            <a:ext cx="8302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00" dirty="0">
                <a:solidFill>
                  <a:srgbClr val="4C1D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Consent Receipt</a:t>
            </a:r>
            <a:endParaRPr lang="en-US" sz="6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600" dirty="0">
                <a:solidFill>
                  <a:srgbClr val="4C1D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授权凭证管理</a:t>
            </a:r>
            <a:endParaRPr lang="en-US" sz="600" dirty="0"/>
          </a:p>
        </p:txBody>
      </p:sp>
      <p:sp>
        <p:nvSpPr>
          <p:cNvPr id="86" name="Shape 84"/>
          <p:cNvSpPr/>
          <p:nvPr/>
        </p:nvSpPr>
        <p:spPr>
          <a:xfrm>
            <a:off x="6865498" y="4205600"/>
            <a:ext cx="722376" cy="361188"/>
          </a:xfrm>
          <a:prstGeom prst="roundRect">
            <a:avLst>
              <a:gd name="adj" fmla="val 15190"/>
            </a:avLst>
          </a:prstGeom>
          <a:solidFill>
            <a:srgbClr val="EDE9FE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6883786" y="4214744"/>
            <a:ext cx="6858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4C1D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PDS</a:t>
            </a:r>
            <a:endParaRPr lang="en-US" sz="6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4C1D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个人数据存储</a:t>
            </a:r>
            <a:endParaRPr lang="en-US" sz="650" dirty="0"/>
          </a:p>
        </p:txBody>
      </p:sp>
      <p:sp>
        <p:nvSpPr>
          <p:cNvPr id="88" name="Shape 86"/>
          <p:cNvSpPr/>
          <p:nvPr/>
        </p:nvSpPr>
        <p:spPr>
          <a:xfrm>
            <a:off x="7660112" y="4205600"/>
            <a:ext cx="794614" cy="361188"/>
          </a:xfrm>
          <a:prstGeom prst="roundRect">
            <a:avLst>
              <a:gd name="adj" fmla="val 15190"/>
            </a:avLst>
          </a:prstGeom>
          <a:solidFill>
            <a:srgbClr val="EDE9FE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7678400" y="4214744"/>
            <a:ext cx="75803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00" dirty="0">
                <a:solidFill>
                  <a:srgbClr val="4C1D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Schema Registry</a:t>
            </a:r>
            <a:endParaRPr lang="en-US" sz="6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600" dirty="0">
                <a:solidFill>
                  <a:srgbClr val="4C1D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数据契约</a:t>
            </a:r>
            <a:endParaRPr lang="en-US" sz="600" dirty="0"/>
          </a:p>
        </p:txBody>
      </p:sp>
      <p:sp>
        <p:nvSpPr>
          <p:cNvPr id="90" name="Shape 88"/>
          <p:cNvSpPr/>
          <p:nvPr/>
        </p:nvSpPr>
        <p:spPr>
          <a:xfrm>
            <a:off x="1859432" y="4725711"/>
            <a:ext cx="7946136" cy="231160"/>
          </a:xfrm>
          <a:prstGeom prst="rect">
            <a:avLst/>
          </a:prstGeom>
          <a:solidFill>
            <a:srgbClr val="FEF3C7"/>
          </a:solidFill>
          <a:ln w="19050">
            <a:solidFill>
              <a:srgbClr val="B45309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1859432" y="4725711"/>
            <a:ext cx="7946136" cy="231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835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⇅  CapAPI + DataPipe  |  能力调用 · 数据管道 · Schema契约 · KG查询  |  多源数据统一接入</a:t>
            </a:r>
            <a:endParaRPr lang="en-US" sz="800" dirty="0"/>
          </a:p>
        </p:txBody>
      </p:sp>
      <p:sp>
        <p:nvSpPr>
          <p:cNvPr id="92" name="Shape 90"/>
          <p:cNvSpPr/>
          <p:nvPr/>
        </p:nvSpPr>
        <p:spPr>
          <a:xfrm>
            <a:off x="1859432" y="4913528"/>
            <a:ext cx="7946136" cy="202265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1859432" y="4913528"/>
            <a:ext cx="7946136" cy="202265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能力底座  Capability Foundation</a:t>
            </a:r>
            <a:endParaRPr lang="en-US" sz="1000" dirty="0"/>
          </a:p>
        </p:txBody>
      </p:sp>
      <p:sp>
        <p:nvSpPr>
          <p:cNvPr id="94" name="Shape 92"/>
          <p:cNvSpPr/>
          <p:nvPr/>
        </p:nvSpPr>
        <p:spPr>
          <a:xfrm>
            <a:off x="1859432" y="5115794"/>
            <a:ext cx="7946136" cy="1061893"/>
          </a:xfrm>
          <a:prstGeom prst="rect">
            <a:avLst/>
          </a:prstGeom>
          <a:solidFill>
            <a:srgbClr val="D1FAE5"/>
          </a:solidFill>
          <a:ln w="19050">
            <a:solidFill>
              <a:srgbClr val="047857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1953341" y="5216926"/>
            <a:ext cx="650138" cy="346740"/>
          </a:xfrm>
          <a:prstGeom prst="roundRect">
            <a:avLst>
              <a:gd name="adj" fmla="val 15823"/>
            </a:avLst>
          </a:prstGeom>
          <a:solidFill>
            <a:srgbClr val="D1FAE5"/>
          </a:solidFill>
          <a:ln w="9525">
            <a:solidFill>
              <a:srgbClr val="059669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1971629" y="5226070"/>
            <a:ext cx="613562" cy="328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064E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部委数据</a:t>
            </a:r>
            <a:endParaRPr lang="en-US" sz="700" dirty="0"/>
          </a:p>
        </p:txBody>
      </p:sp>
      <p:sp>
        <p:nvSpPr>
          <p:cNvPr id="97" name="Shape 95"/>
          <p:cNvSpPr/>
          <p:nvPr/>
        </p:nvSpPr>
        <p:spPr>
          <a:xfrm>
            <a:off x="2661270" y="5216926"/>
            <a:ext cx="650138" cy="346740"/>
          </a:xfrm>
          <a:prstGeom prst="roundRect">
            <a:avLst>
              <a:gd name="adj" fmla="val 15823"/>
            </a:avLst>
          </a:prstGeom>
          <a:solidFill>
            <a:srgbClr val="D1FAE5"/>
          </a:solidFill>
          <a:ln w="9525">
            <a:solidFill>
              <a:srgbClr val="059669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2679558" y="5226070"/>
            <a:ext cx="613562" cy="328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064E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地方数据</a:t>
            </a:r>
            <a:endParaRPr lang="en-US" sz="700" dirty="0"/>
          </a:p>
        </p:txBody>
      </p:sp>
      <p:sp>
        <p:nvSpPr>
          <p:cNvPr id="99" name="Shape 97"/>
          <p:cNvSpPr/>
          <p:nvPr/>
        </p:nvSpPr>
        <p:spPr>
          <a:xfrm>
            <a:off x="3369198" y="5216926"/>
            <a:ext cx="650138" cy="346740"/>
          </a:xfrm>
          <a:prstGeom prst="roundRect">
            <a:avLst>
              <a:gd name="adj" fmla="val 15823"/>
            </a:avLst>
          </a:prstGeom>
          <a:solidFill>
            <a:srgbClr val="D1FAE5"/>
          </a:solidFill>
          <a:ln w="9525">
            <a:solidFill>
              <a:srgbClr val="059669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3387486" y="5226070"/>
            <a:ext cx="613562" cy="328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064E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社会数据</a:t>
            </a:r>
            <a:endParaRPr lang="en-US" sz="700" dirty="0"/>
          </a:p>
        </p:txBody>
      </p:sp>
      <p:sp>
        <p:nvSpPr>
          <p:cNvPr id="101" name="Shape 99"/>
          <p:cNvSpPr/>
          <p:nvPr/>
        </p:nvSpPr>
        <p:spPr>
          <a:xfrm>
            <a:off x="4077127" y="5216926"/>
            <a:ext cx="650138" cy="346740"/>
          </a:xfrm>
          <a:prstGeom prst="roundRect">
            <a:avLst>
              <a:gd name="adj" fmla="val 15823"/>
            </a:avLst>
          </a:prstGeom>
          <a:solidFill>
            <a:srgbClr val="D1FAE5"/>
          </a:solidFill>
          <a:ln w="9525">
            <a:solidFill>
              <a:srgbClr val="059669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4095415" y="5226070"/>
            <a:ext cx="613562" cy="328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064E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沉淀数据</a:t>
            </a:r>
            <a:endParaRPr lang="en-US" sz="700" dirty="0"/>
          </a:p>
        </p:txBody>
      </p:sp>
      <p:sp>
        <p:nvSpPr>
          <p:cNvPr id="103" name="Shape 101"/>
          <p:cNvSpPr/>
          <p:nvPr/>
        </p:nvSpPr>
        <p:spPr>
          <a:xfrm>
            <a:off x="4857293" y="5216926"/>
            <a:ext cx="650138" cy="346740"/>
          </a:xfrm>
          <a:prstGeom prst="roundRect">
            <a:avLst>
              <a:gd name="adj" fmla="val 15823"/>
            </a:avLst>
          </a:prstGeom>
          <a:solidFill>
            <a:srgbClr val="DBEAFE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4875581" y="5226070"/>
            <a:ext cx="613562" cy="328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引擎</a:t>
            </a:r>
            <a:endParaRPr lang="en-US" sz="700" dirty="0"/>
          </a:p>
        </p:txBody>
      </p:sp>
      <p:sp>
        <p:nvSpPr>
          <p:cNvPr id="105" name="Shape 103"/>
          <p:cNvSpPr/>
          <p:nvPr/>
        </p:nvSpPr>
        <p:spPr>
          <a:xfrm>
            <a:off x="5565221" y="5216926"/>
            <a:ext cx="650138" cy="346740"/>
          </a:xfrm>
          <a:prstGeom prst="roundRect">
            <a:avLst>
              <a:gd name="adj" fmla="val 15823"/>
            </a:avLst>
          </a:prstGeom>
          <a:solidFill>
            <a:srgbClr val="DBEAFE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5583509" y="5226070"/>
            <a:ext cx="613562" cy="328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OCR / NLP</a:t>
            </a:r>
            <a:endParaRPr lang="en-US" sz="700" dirty="0"/>
          </a:p>
        </p:txBody>
      </p:sp>
      <p:sp>
        <p:nvSpPr>
          <p:cNvPr id="107" name="Shape 105"/>
          <p:cNvSpPr/>
          <p:nvPr/>
        </p:nvSpPr>
        <p:spPr>
          <a:xfrm>
            <a:off x="6273150" y="5216926"/>
            <a:ext cx="650138" cy="346740"/>
          </a:xfrm>
          <a:prstGeom prst="roundRect">
            <a:avLst>
              <a:gd name="adj" fmla="val 15823"/>
            </a:avLst>
          </a:prstGeom>
          <a:solidFill>
            <a:srgbClr val="DBEAFE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6291438" y="5226070"/>
            <a:ext cx="613562" cy="328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RAG 引擎</a:t>
            </a:r>
            <a:endParaRPr lang="en-US" sz="700" dirty="0"/>
          </a:p>
        </p:txBody>
      </p:sp>
      <p:sp>
        <p:nvSpPr>
          <p:cNvPr id="109" name="Shape 107"/>
          <p:cNvSpPr/>
          <p:nvPr/>
        </p:nvSpPr>
        <p:spPr>
          <a:xfrm>
            <a:off x="6981078" y="5216926"/>
            <a:ext cx="794614" cy="346740"/>
          </a:xfrm>
          <a:prstGeom prst="roundRect">
            <a:avLst>
              <a:gd name="adj" fmla="val 15823"/>
            </a:avLst>
          </a:prstGeom>
          <a:solidFill>
            <a:srgbClr val="DBEAFE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6999366" y="5226070"/>
            <a:ext cx="758038" cy="328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SemanticSearch</a:t>
            </a:r>
            <a:endParaRPr lang="en-US" sz="6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6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TF-IDF+BM25</a:t>
            </a:r>
            <a:endParaRPr lang="en-US" sz="600" dirty="0"/>
          </a:p>
        </p:txBody>
      </p:sp>
      <p:sp>
        <p:nvSpPr>
          <p:cNvPr id="111" name="Shape 109"/>
          <p:cNvSpPr/>
          <p:nvPr/>
        </p:nvSpPr>
        <p:spPr>
          <a:xfrm>
            <a:off x="7847929" y="5216926"/>
            <a:ext cx="939089" cy="346740"/>
          </a:xfrm>
          <a:prstGeom prst="roundRect">
            <a:avLst>
              <a:gd name="adj" fmla="val 15823"/>
            </a:avLst>
          </a:prstGeom>
          <a:solidFill>
            <a:srgbClr val="DBEAFE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7866217" y="5226070"/>
            <a:ext cx="902513" cy="328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KnowledgeGraph</a:t>
            </a:r>
            <a:endParaRPr lang="en-US" sz="5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119 nodes / 727 edges</a:t>
            </a:r>
            <a:endParaRPr lang="en-US" sz="550" dirty="0"/>
          </a:p>
        </p:txBody>
      </p:sp>
      <p:sp>
        <p:nvSpPr>
          <p:cNvPr id="113" name="Shape 111"/>
          <p:cNvSpPr/>
          <p:nvPr/>
        </p:nvSpPr>
        <p:spPr>
          <a:xfrm>
            <a:off x="1953341" y="5635904"/>
            <a:ext cx="614020" cy="317845"/>
          </a:xfrm>
          <a:prstGeom prst="roundRect">
            <a:avLst>
              <a:gd name="adj" fmla="val 17261"/>
            </a:avLst>
          </a:prstGeom>
          <a:solidFill>
            <a:srgbClr val="D1FAE5"/>
          </a:solidFill>
          <a:ln w="9525">
            <a:solidFill>
              <a:srgbClr val="059669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1971629" y="5645048"/>
            <a:ext cx="577444" cy="2995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064E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一人一档</a:t>
            </a:r>
            <a:endParaRPr lang="en-US" sz="700" dirty="0"/>
          </a:p>
        </p:txBody>
      </p:sp>
      <p:sp>
        <p:nvSpPr>
          <p:cNvPr id="115" name="Shape 113"/>
          <p:cNvSpPr/>
          <p:nvPr/>
        </p:nvSpPr>
        <p:spPr>
          <a:xfrm>
            <a:off x="2625151" y="5635904"/>
            <a:ext cx="614020" cy="317845"/>
          </a:xfrm>
          <a:prstGeom prst="roundRect">
            <a:avLst>
              <a:gd name="adj" fmla="val 17261"/>
            </a:avLst>
          </a:prstGeom>
          <a:solidFill>
            <a:srgbClr val="D1FAE5"/>
          </a:solidFill>
          <a:ln w="9525">
            <a:solidFill>
              <a:srgbClr val="059669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2643439" y="5645048"/>
            <a:ext cx="577444" cy="2995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064E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一企一档</a:t>
            </a:r>
            <a:endParaRPr lang="en-US" sz="700" dirty="0"/>
          </a:p>
        </p:txBody>
      </p:sp>
      <p:sp>
        <p:nvSpPr>
          <p:cNvPr id="117" name="Shape 115"/>
          <p:cNvSpPr/>
          <p:nvPr/>
        </p:nvSpPr>
        <p:spPr>
          <a:xfrm>
            <a:off x="3296961" y="5635904"/>
            <a:ext cx="614020" cy="317845"/>
          </a:xfrm>
          <a:prstGeom prst="roundRect">
            <a:avLst>
              <a:gd name="adj" fmla="val 17261"/>
            </a:avLst>
          </a:prstGeom>
          <a:solidFill>
            <a:srgbClr val="D1FAE5"/>
          </a:solidFill>
          <a:ln w="9525">
            <a:solidFill>
              <a:srgbClr val="059669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3315249" y="5645048"/>
            <a:ext cx="577444" cy="2995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064E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一智一档</a:t>
            </a:r>
            <a:endParaRPr lang="en-US" sz="700" dirty="0"/>
          </a:p>
        </p:txBody>
      </p:sp>
      <p:sp>
        <p:nvSpPr>
          <p:cNvPr id="119" name="Shape 117"/>
          <p:cNvSpPr/>
          <p:nvPr/>
        </p:nvSpPr>
        <p:spPr>
          <a:xfrm>
            <a:off x="4004889" y="5635904"/>
            <a:ext cx="722376" cy="317845"/>
          </a:xfrm>
          <a:prstGeom prst="roundRect">
            <a:avLst>
              <a:gd name="adj" fmla="val 17261"/>
            </a:avLst>
          </a:prstGeom>
          <a:solidFill>
            <a:srgbClr val="DBEAFE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4023177" y="5645048"/>
            <a:ext cx="685800" cy="2995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policyDB</a:t>
            </a:r>
            <a:endParaRPr lang="en-US" sz="6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6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119 policies</a:t>
            </a:r>
            <a:endParaRPr lang="en-US" sz="600" dirty="0"/>
          </a:p>
        </p:txBody>
      </p:sp>
      <p:sp>
        <p:nvSpPr>
          <p:cNvPr id="121" name="Shape 119"/>
          <p:cNvSpPr/>
          <p:nvPr/>
        </p:nvSpPr>
        <p:spPr>
          <a:xfrm>
            <a:off x="4799503" y="5635904"/>
            <a:ext cx="722376" cy="317845"/>
          </a:xfrm>
          <a:prstGeom prst="roundRect">
            <a:avLst>
              <a:gd name="adj" fmla="val 17261"/>
            </a:avLst>
          </a:prstGeom>
          <a:solidFill>
            <a:srgbClr val="DBEAFE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4817791" y="5645048"/>
            <a:ext cx="685800" cy="2995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DataLake</a:t>
            </a:r>
            <a:endParaRPr lang="en-US" sz="6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6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入湖引擎</a:t>
            </a:r>
            <a:endParaRPr lang="en-US" sz="600" dirty="0"/>
          </a:p>
        </p:txBody>
      </p:sp>
      <p:sp>
        <p:nvSpPr>
          <p:cNvPr id="123" name="Shape 121"/>
          <p:cNvSpPr/>
          <p:nvPr/>
        </p:nvSpPr>
        <p:spPr>
          <a:xfrm>
            <a:off x="5594116" y="5635904"/>
            <a:ext cx="686257" cy="317845"/>
          </a:xfrm>
          <a:prstGeom prst="roundRect">
            <a:avLst>
              <a:gd name="adj" fmla="val 17261"/>
            </a:avLst>
          </a:prstGeom>
          <a:solidFill>
            <a:srgbClr val="FEE2E2"/>
          </a:solidFill>
          <a:ln w="9525">
            <a:solidFill>
              <a:srgbClr val="DC2626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5612404" y="5645048"/>
            <a:ext cx="649681" cy="2995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00" dirty="0">
                <a:solidFill>
                  <a:srgbClr val="99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AES-256</a:t>
            </a:r>
            <a:endParaRPr lang="en-US" sz="6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600" dirty="0">
                <a:solidFill>
                  <a:srgbClr val="99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加密存储</a:t>
            </a:r>
            <a:endParaRPr lang="en-US" sz="600" dirty="0"/>
          </a:p>
        </p:txBody>
      </p:sp>
      <p:sp>
        <p:nvSpPr>
          <p:cNvPr id="125" name="Shape 123"/>
          <p:cNvSpPr/>
          <p:nvPr/>
        </p:nvSpPr>
        <p:spPr>
          <a:xfrm>
            <a:off x="6338164" y="5635904"/>
            <a:ext cx="614020" cy="317845"/>
          </a:xfrm>
          <a:prstGeom prst="roundRect">
            <a:avLst>
              <a:gd name="adj" fmla="val 17261"/>
            </a:avLst>
          </a:prstGeom>
          <a:solidFill>
            <a:srgbClr val="FEE2E2"/>
          </a:solidFill>
          <a:ln w="9525">
            <a:solidFill>
              <a:srgbClr val="DC2626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6356452" y="5645048"/>
            <a:ext cx="577444" cy="2995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00" dirty="0">
                <a:solidFill>
                  <a:srgbClr val="99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PII脱敏</a:t>
            </a:r>
            <a:endParaRPr lang="en-US" sz="6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600" dirty="0">
                <a:solidFill>
                  <a:srgbClr val="99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k-匿名</a:t>
            </a:r>
            <a:endParaRPr lang="en-US" sz="600" dirty="0"/>
          </a:p>
        </p:txBody>
      </p:sp>
      <p:sp>
        <p:nvSpPr>
          <p:cNvPr id="127" name="Shape 125"/>
          <p:cNvSpPr/>
          <p:nvPr/>
        </p:nvSpPr>
        <p:spPr>
          <a:xfrm>
            <a:off x="7024421" y="5635904"/>
            <a:ext cx="650138" cy="317845"/>
          </a:xfrm>
          <a:prstGeom prst="roundRect">
            <a:avLst>
              <a:gd name="adj" fmla="val 17261"/>
            </a:avLst>
          </a:prstGeom>
          <a:solidFill>
            <a:srgbClr val="FEE2E2"/>
          </a:solidFill>
          <a:ln w="9525">
            <a:solidFill>
              <a:srgbClr val="DC2626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7042709" y="5645048"/>
            <a:ext cx="613562" cy="2995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00" dirty="0">
                <a:solidFill>
                  <a:srgbClr val="99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审计日志</a:t>
            </a:r>
            <a:endParaRPr lang="en-US" sz="6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600" dirty="0">
                <a:solidFill>
                  <a:srgbClr val="99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全链路</a:t>
            </a:r>
            <a:endParaRPr lang="en-US" sz="600" dirty="0"/>
          </a:p>
        </p:txBody>
      </p:sp>
      <p:sp>
        <p:nvSpPr>
          <p:cNvPr id="129" name="Shape 127"/>
          <p:cNvSpPr/>
          <p:nvPr/>
        </p:nvSpPr>
        <p:spPr>
          <a:xfrm>
            <a:off x="7746797" y="5635904"/>
            <a:ext cx="650138" cy="317845"/>
          </a:xfrm>
          <a:prstGeom prst="roundRect">
            <a:avLst>
              <a:gd name="adj" fmla="val 17261"/>
            </a:avLst>
          </a:prstGeom>
          <a:solidFill>
            <a:srgbClr val="DBEAFE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7765085" y="5645048"/>
            <a:ext cx="613562" cy="2995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StaleCache</a:t>
            </a:r>
            <a:endParaRPr lang="en-US" sz="6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6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降级缓存</a:t>
            </a:r>
            <a:endParaRPr lang="en-US" sz="600" dirty="0"/>
          </a:p>
        </p:txBody>
      </p:sp>
      <p:sp>
        <p:nvSpPr>
          <p:cNvPr id="131" name="Shape 129"/>
          <p:cNvSpPr/>
          <p:nvPr/>
        </p:nvSpPr>
        <p:spPr>
          <a:xfrm>
            <a:off x="8469173" y="5635904"/>
            <a:ext cx="650138" cy="317845"/>
          </a:xfrm>
          <a:prstGeom prst="roundRect">
            <a:avLst>
              <a:gd name="adj" fmla="val 17261"/>
            </a:avLst>
          </a:prstGeom>
          <a:solidFill>
            <a:srgbClr val="D1FAE5"/>
          </a:solidFill>
          <a:ln w="9525">
            <a:solidFill>
              <a:srgbClr val="059669"/>
            </a:solidFill>
            <a:prstDash val="solid"/>
          </a:ln>
        </p:spPr>
      </p:sp>
      <p:sp>
        <p:nvSpPr>
          <p:cNvPr id="132" name="Text 130"/>
          <p:cNvSpPr/>
          <p:nvPr/>
        </p:nvSpPr>
        <p:spPr>
          <a:xfrm>
            <a:off x="8487461" y="5645048"/>
            <a:ext cx="613562" cy="2995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00" dirty="0">
                <a:solidFill>
                  <a:srgbClr val="064E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MyData</a:t>
            </a:r>
            <a:endParaRPr lang="en-US" sz="6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600" dirty="0">
                <a:solidFill>
                  <a:srgbClr val="064E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数据同步</a:t>
            </a:r>
            <a:endParaRPr lang="en-US" sz="600" dirty="0"/>
          </a:p>
        </p:txBody>
      </p:sp>
      <p:sp>
        <p:nvSpPr>
          <p:cNvPr id="133" name="Shape 131"/>
          <p:cNvSpPr/>
          <p:nvPr/>
        </p:nvSpPr>
        <p:spPr>
          <a:xfrm>
            <a:off x="1859432" y="6235476"/>
            <a:ext cx="7946136" cy="202265"/>
          </a:xfrm>
          <a:prstGeom prst="roundRect">
            <a:avLst>
              <a:gd name="adj" fmla="val 1808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34" name="Text 132"/>
          <p:cNvSpPr/>
          <p:nvPr/>
        </p:nvSpPr>
        <p:spPr>
          <a:xfrm>
            <a:off x="1859432" y="6235476"/>
            <a:ext cx="7946136" cy="2022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7835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统一规范：统一数据标识 ｜ 统一接入标准 ｜ 统一安全管理 ｜ 统一授权协议(DEP) ｜ 路由原则(规则→Agent→Harness→LLM) ｜ 轻耦合·重接口</a:t>
            </a:r>
            <a:endParaRPr lang="en-US" sz="700" dirty="0"/>
          </a:p>
        </p:txBody>
      </p:sp>
      <p:sp>
        <p:nvSpPr>
          <p:cNvPr id="135" name="Shape 133"/>
          <p:cNvSpPr/>
          <p:nvPr/>
        </p:nvSpPr>
        <p:spPr>
          <a:xfrm>
            <a:off x="1462126" y="579272"/>
            <a:ext cx="397307" cy="2745029"/>
          </a:xfrm>
          <a:prstGeom prst="roundRect">
            <a:avLst>
              <a:gd name="adj" fmla="val 11507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36" name="Text 134"/>
          <p:cNvSpPr/>
          <p:nvPr/>
        </p:nvSpPr>
        <p:spPr>
          <a:xfrm>
            <a:off x="1462126" y="579272"/>
            <a:ext cx="397307" cy="27450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240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9240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赋能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9240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↑</a:t>
            </a:r>
            <a:endParaRPr lang="en-US" sz="800" dirty="0"/>
          </a:p>
        </p:txBody>
      </p:sp>
      <p:sp>
        <p:nvSpPr>
          <p:cNvPr id="137" name="Shape 135"/>
          <p:cNvSpPr/>
          <p:nvPr/>
        </p:nvSpPr>
        <p:spPr>
          <a:xfrm>
            <a:off x="1447678" y="3432658"/>
            <a:ext cx="397307" cy="2745029"/>
          </a:xfrm>
          <a:prstGeom prst="roundRect">
            <a:avLst>
              <a:gd name="adj" fmla="val 11507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38" name="Text 136"/>
          <p:cNvSpPr/>
          <p:nvPr/>
        </p:nvSpPr>
        <p:spPr>
          <a:xfrm>
            <a:off x="1447678" y="3432658"/>
            <a:ext cx="397307" cy="27450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240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9240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沉淀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9240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↓</a:t>
            </a:r>
            <a:endParaRPr lang="en-US" sz="800" dirty="0"/>
          </a:p>
        </p:txBody>
      </p:sp>
      <p:sp>
        <p:nvSpPr>
          <p:cNvPr id="139" name="Text 137"/>
          <p:cNvSpPr/>
          <p:nvPr/>
        </p:nvSpPr>
        <p:spPr>
          <a:xfrm>
            <a:off x="1462126" y="2674163"/>
            <a:ext cx="397307" cy="2167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i="1" dirty="0">
                <a:solidFill>
                  <a:srgbClr val="9240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L4→L1</a:t>
            </a:r>
            <a:endParaRPr lang="en-US" sz="500" dirty="0"/>
          </a:p>
          <a:p>
            <a:pPr algn="ctr" indent="0" marL="0">
              <a:buNone/>
            </a:pPr>
            <a:r>
              <a:rPr lang="en-US" sz="500" i="1" dirty="0">
                <a:solidFill>
                  <a:srgbClr val="9240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KG驱动路由</a:t>
            </a:r>
            <a:endParaRPr lang="en-US" sz="500" dirty="0"/>
          </a:p>
        </p:txBody>
      </p:sp>
      <p:sp>
        <p:nvSpPr>
          <p:cNvPr id="140" name="Text 138"/>
          <p:cNvSpPr/>
          <p:nvPr/>
        </p:nvSpPr>
        <p:spPr>
          <a:xfrm>
            <a:off x="1389888" y="5115794"/>
            <a:ext cx="397307" cy="2167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i="1" dirty="0">
                <a:solidFill>
                  <a:srgbClr val="9240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L2→L4</a:t>
            </a:r>
            <a:endParaRPr lang="en-US" sz="500" dirty="0"/>
          </a:p>
          <a:p>
            <a:pPr algn="ctr" indent="0" marL="0">
              <a:buNone/>
            </a:pPr>
            <a:r>
              <a:rPr lang="en-US" sz="500" i="1" dirty="0">
                <a:solidFill>
                  <a:srgbClr val="9240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交互数据入湖</a:t>
            </a:r>
            <a:endParaRPr lang="en-US" sz="500" dirty="0"/>
          </a:p>
        </p:txBody>
      </p:sp>
      <p:sp>
        <p:nvSpPr>
          <p:cNvPr id="141" name="Shape 139"/>
          <p:cNvSpPr/>
          <p:nvPr/>
        </p:nvSpPr>
        <p:spPr>
          <a:xfrm>
            <a:off x="9805568" y="557601"/>
            <a:ext cx="758495" cy="5620085"/>
          </a:xfrm>
          <a:prstGeom prst="roundRect">
            <a:avLst>
              <a:gd name="adj" fmla="val 7233"/>
            </a:avLst>
          </a:prstGeom>
          <a:solidFill>
            <a:srgbClr val="FFF2CC"/>
          </a:solidFill>
          <a:ln w="12700">
            <a:solidFill>
              <a:srgbClr val="D6B656"/>
            </a:solidFill>
            <a:prstDash val="solid"/>
          </a:ln>
        </p:spPr>
      </p:sp>
      <p:sp>
        <p:nvSpPr>
          <p:cNvPr id="142" name="Text 140"/>
          <p:cNvSpPr/>
          <p:nvPr/>
        </p:nvSpPr>
        <p:spPr>
          <a:xfrm>
            <a:off x="9805568" y="557601"/>
            <a:ext cx="758495" cy="56200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835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7835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7835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7835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</a:t>
            </a:r>
            <a:endParaRPr lang="en-US" sz="1000" dirty="0"/>
          </a:p>
        </p:txBody>
      </p:sp>
      <p:sp>
        <p:nvSpPr>
          <p:cNvPr id="143" name="Text 141"/>
          <p:cNvSpPr/>
          <p:nvPr/>
        </p:nvSpPr>
        <p:spPr>
          <a:xfrm>
            <a:off x="2473452" y="6481084"/>
            <a:ext cx="365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图例:</a:t>
            </a:r>
            <a:endParaRPr lang="en-US" sz="700" dirty="0"/>
          </a:p>
        </p:txBody>
      </p:sp>
      <p:sp>
        <p:nvSpPr>
          <p:cNvPr id="144" name="Text 142"/>
          <p:cNvSpPr/>
          <p:nvPr/>
        </p:nvSpPr>
        <p:spPr>
          <a:xfrm>
            <a:off x="2884932" y="6481084"/>
            <a:ext cx="502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■ 国数通</a:t>
            </a:r>
            <a:endParaRPr lang="en-US" sz="700" dirty="0"/>
          </a:p>
        </p:txBody>
      </p:sp>
      <p:sp>
        <p:nvSpPr>
          <p:cNvPr id="145" name="Text 143"/>
          <p:cNvSpPr/>
          <p:nvPr/>
        </p:nvSpPr>
        <p:spPr>
          <a:xfrm>
            <a:off x="3342132" y="6481084"/>
            <a:ext cx="502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064E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■ MyData</a:t>
            </a:r>
            <a:endParaRPr lang="en-US" sz="700" dirty="0"/>
          </a:p>
        </p:txBody>
      </p:sp>
      <p:sp>
        <p:nvSpPr>
          <p:cNvPr id="146" name="Text 144"/>
          <p:cNvSpPr/>
          <p:nvPr/>
        </p:nvSpPr>
        <p:spPr>
          <a:xfrm>
            <a:off x="3799332" y="6481084"/>
            <a:ext cx="502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4C1D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■ 融合</a:t>
            </a:r>
            <a:endParaRPr lang="en-US" sz="700" dirty="0"/>
          </a:p>
        </p:txBody>
      </p:sp>
      <p:sp>
        <p:nvSpPr>
          <p:cNvPr id="147" name="Text 145"/>
          <p:cNvSpPr/>
          <p:nvPr/>
        </p:nvSpPr>
        <p:spPr>
          <a:xfrm>
            <a:off x="4165092" y="6481084"/>
            <a:ext cx="502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7835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■ 接口</a:t>
            </a:r>
            <a:endParaRPr lang="en-US" sz="700" dirty="0"/>
          </a:p>
        </p:txBody>
      </p:sp>
      <p:sp>
        <p:nvSpPr>
          <p:cNvPr id="148" name="Text 146"/>
          <p:cNvSpPr/>
          <p:nvPr/>
        </p:nvSpPr>
        <p:spPr>
          <a:xfrm>
            <a:off x="4530852" y="6481084"/>
            <a:ext cx="502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99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■ 安全</a:t>
            </a:r>
            <a:endParaRPr lang="en-US" sz="700" dirty="0"/>
          </a:p>
        </p:txBody>
      </p:sp>
      <p:sp>
        <p:nvSpPr>
          <p:cNvPr id="149" name="Text 147"/>
          <p:cNvSpPr/>
          <p:nvPr/>
        </p:nvSpPr>
        <p:spPr>
          <a:xfrm>
            <a:off x="4896612" y="6481084"/>
            <a:ext cx="502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453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■ ISV/第三方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国数通×MyData 4层融合架构 V2.0</dc:title>
  <dc:subject>PptxGenJS Presentation</dc:subject>
  <dc:creator>TeleAgent</dc:creator>
  <cp:lastModifiedBy>TeleAgent</cp:lastModifiedBy>
  <cp:revision>1</cp:revision>
  <dcterms:created xsi:type="dcterms:W3CDTF">2026-07-15T07:15:14Z</dcterms:created>
  <dcterms:modified xsi:type="dcterms:W3CDTF">2026-07-15T07:15:14Z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D55U9H0F10002","ProduceID":"6196d255-58b1-4733-a22b-17a42f80a914","ReservedCode1":"46c4c7f2-0d44-4890-9018-46b16dd82a4d","ContentPropagator":"001191110102MAD55U9H0F10002","PropagateID":"6196d255-58b1-4733-a22b-17a42f80a914","ReservedCode2":"46c4c7f2-0d44-4890-9018-46b16dd82a4d"}</vt:lpwstr>
  </property>
</Properties>
</file>